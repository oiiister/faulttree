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c63f0b2c8bb4152" /><Relationship Type="http://schemas.openxmlformats.org/officeDocument/2006/relationships/extended-properties" Target="/docProps/app.xml" Id="R3c279db68bad4d62" /><Relationship Type="http://schemas.openxmlformats.org/officeDocument/2006/relationships/officeDocument" Target="/ppt/presentation.xml" Id="Rea3d4e65d73b412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a424d953d714d6e"/>
  </p:sldMasterIdLst>
  <p:notesMasterIdLst>
    <p:notesMasterId xmlns:r="http://schemas.openxmlformats.org/officeDocument/2006/relationships" r:id="R0bb73006a269457d"/>
  </p:notesMasterIdLst>
  <p:sldIdLst>
    <p:sldId xmlns:r="http://schemas.openxmlformats.org/officeDocument/2006/relationships" id="256" r:id="Rca88a579c8dc495d"/>
    <p:sldId xmlns:r="http://schemas.openxmlformats.org/officeDocument/2006/relationships" id="257" r:id="R367406dbf816480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c9291cddd314694" /><Relationship Type="http://schemas.openxmlformats.org/officeDocument/2006/relationships/slideMaster" Target="/ppt/slideMasters/slideMaster1.xml" Id="Rea424d953d714d6e" /><Relationship Type="http://schemas.openxmlformats.org/officeDocument/2006/relationships/notesMaster" Target="/ppt/notesMasters/notesMaster1.xml" Id="R0bb73006a269457d" /><Relationship Type="http://schemas.openxmlformats.org/officeDocument/2006/relationships/presProps" Target="/ppt/presProps.xml" Id="R0cda3a0b096d4ce8" /><Relationship Type="http://schemas.openxmlformats.org/officeDocument/2006/relationships/tableStyles" Target="/ppt/tableStyles.xml" Id="R61e9410d676e4ace" /><Relationship Type="http://schemas.openxmlformats.org/officeDocument/2006/relationships/slide" Target="/ppt/slides/slide1.xml" Id="Rca88a579c8dc495d" /><Relationship Type="http://schemas.openxmlformats.org/officeDocument/2006/relationships/slide" Target="/ppt/slides/slide2.xml" Id="R367406dbf816480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8cff85260894a2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cc032df1760483e" /><Relationship Type="http://schemas.openxmlformats.org/officeDocument/2006/relationships/notesMaster" Target="/ppt/notesMasters/notesMaster1.xml" Id="R43628f539379414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5ea15afba824f4a" /><Relationship Type="http://schemas.openxmlformats.org/officeDocument/2006/relationships/notesMaster" Target="/ppt/notesMasters/notesMaster1.xml" Id="R1aa80c2aef594d4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本页用于说明重构后的目标架构。核心原则是保留已有 LightRAG 与故障树领域能力，由 Nexent 负责 Agent 编排、工具调用、审核和评测。</a:t>
            </a:r>
          </a:p>
          <a:p xmlns:a="http://schemas.openxmlformats.org/drawingml/2006/main">
            <a:r>
              <a:t>依据：docs/Nexent重构初步方案.md；项目现有 FastAPI、LightRAG、React/Vue 故障树编辑器和校验器。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本页用于向指导老师解释架构图中的职责边界。重点说明：Nexent 解决 Agent 协作与治理问题，LightRAG 与故障树服务继续承担已有领域能力，数据层保证证据和版本可追溯。</a:t>
            </a:r>
          </a:p>
          <a:p xmlns:a="http://schemas.openxmlformats.org/drawingml/2006/main">
            <a:r>
              <a:t>依据：docs/Nexent重构初步方案.md。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5d4f2c7610447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86971192754cc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c0f599d5b9444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839c5cdf58461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7253d1c3a741c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810f1a74a14b0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EFD0379-81AE-415F-9118-CC8B81B8EF7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DE02621-37BE-41D5-90CB-1C00219D76A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4170EF0-B97A-438C-898F-17298047B4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99A4788-3DD9-45BF-BF91-F5B6CD046F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DBABFE9-6C03-4E15-BD92-E81DB0C391B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B04C620-3A82-43B4-A8F3-AA4BAE1653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AC8702E-DA41-4C1F-A925-23C1E1FF3DA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0ADA2AE-2BD2-4748-9266-A80306917B4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DCC800A-F312-4A6C-AADB-01B1C312640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6C2E2E9-327E-4567-8D70-EF51B0AF3EF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f6b2e7920f94ca6" /><Relationship Type="http://schemas.openxmlformats.org/officeDocument/2006/relationships/slideLayout" Target="/ppt/slideLayouts/slideLayout1.xml" Id="R065beb13a2ed41de" /><Relationship Type="http://schemas.openxmlformats.org/officeDocument/2006/relationships/slideLayout" Target="/ppt/slideLayouts/slideLayout2.xml" Id="R460cbdf1ad0e4ebd" /><Relationship Type="http://schemas.openxmlformats.org/officeDocument/2006/relationships/slideLayout" Target="/ppt/slideLayouts/slideLayout3.xml" Id="R343115bb19e34a65" /><Relationship Type="http://schemas.openxmlformats.org/officeDocument/2006/relationships/slideLayout" Target="/ppt/slideLayouts/slideLayout4.xml" Id="R350c0fc25aa94c2e" /><Relationship Type="http://schemas.openxmlformats.org/officeDocument/2006/relationships/slideLayout" Target="/ppt/slideLayouts/slideLayout5.xml" Id="R8a2308291f104f6a" /><Relationship Type="http://schemas.openxmlformats.org/officeDocument/2006/relationships/slideLayout" Target="/ppt/slideLayouts/slideLayout6.xml" Id="R7dc5244f2550496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65beb13a2ed41de"/>
    <p:sldLayoutId xmlns:r="http://schemas.openxmlformats.org/officeDocument/2006/relationships" id="2147483650" r:id="R460cbdf1ad0e4ebd"/>
    <p:sldLayoutId xmlns:r="http://schemas.openxmlformats.org/officeDocument/2006/relationships" id="2147483651" r:id="R343115bb19e34a65"/>
    <p:sldLayoutId xmlns:r="http://schemas.openxmlformats.org/officeDocument/2006/relationships" id="2147483652" r:id="R350c0fc25aa94c2e"/>
    <p:sldLayoutId xmlns:r="http://schemas.openxmlformats.org/officeDocument/2006/relationships" id="2147483653" r:id="R8a2308291f104f6a"/>
    <p:sldLayoutId xmlns:r="http://schemas.openxmlformats.org/officeDocument/2006/relationships" id="2147483654" r:id="R7dc5244f2550496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ee0b56b36b4eef" /><Relationship Type="http://schemas.openxmlformats.org/officeDocument/2006/relationships/notesSlide" Target="/ppt/notesSlides/notesSlide1.xml" Id="R48ba37eb77a0447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7795101e5a4789" /><Relationship Type="http://schemas.openxmlformats.org/officeDocument/2006/relationships/notesSlide" Target="/ppt/notesSlides/notesSlide2.xml" Id="R4074ee488c88403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2239DB4-BD92-426E-96BD-EE6C9E05B0AE}"/>
              </a:ext>
            </a:extLst>
          </p:cNvPr>
          <p:cNvCxnSpPr>
            <a:stCxn xmlns:a="http://schemas.openxmlformats.org/drawingml/2006/main" id="38" idx="2"/>
            <a:endCxn xmlns:a="http://schemas.openxmlformats.org/drawingml/2006/main" id="49" idx="3"/>
          </p:cNvCxnSpPr>
          <p:nvPr/>
        </p:nvCxnSpPr>
        <p:spPr>
          <a:xfrm xmlns:a="http://schemas.openxmlformats.org/drawingml/2006/main" flipH="1">
            <a:off x="8477250" y="3257550"/>
            <a:ext cx="2857500" cy="1076325"/>
          </a:xfrm>
          <a:prstGeom xmlns:a="http://schemas.openxmlformats.org/drawingml/2006/main" prst="bentConnector5">
            <a:avLst>
              <a:gd name="adj1" fmla="val 0"/>
              <a:gd name="adj2" fmla="val 21239"/>
              <a:gd name="adj3" fmla="val 92000"/>
            </a:avLst>
          </a:prstGeom>
          <a:ln xmlns:a="http://schemas.openxmlformats.org/drawingml/2006/main" w="14288">
            <a:solidFill>
              <a:srgbClr val="2F8F5B"/>
            </a:solidFill>
            <a:prstDash val="dash"/>
            <a:tailEnd type="triangle" w="sm" len="sm"/>
          </a:ln>
        </p:spPr>
      </p:cxnSp>
      <p:cxnSp>
        <p:nvCxn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82B4C54-DF84-45B2-8C4C-3666A9C6B2F8}"/>
              </a:ext>
            </a:extLst>
          </p:cNvPr>
          <p:cNvCxnSpPr>
            <a:stCxn xmlns:a="http://schemas.openxmlformats.org/drawingml/2006/main" id="49" idx="0"/>
            <a:endCxn xmlns:a="http://schemas.openxmlformats.org/drawingml/2006/main" id="23" idx="2"/>
          </p:cNvCxnSpPr>
          <p:nvPr/>
        </p:nvCxnSpPr>
        <p:spPr>
          <a:xfrm xmlns:a="http://schemas.openxmlformats.org/drawingml/2006/main" flipV="1">
            <a:off x="5219700" y="3600450"/>
            <a:ext cx="1971675" cy="4762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7E64C5"/>
            </a:solidFill>
            <a:prstDash val="dash"/>
            <a:tailEnd type="triangle" w="sm" len="sm"/>
          </a:ln>
        </p:spPr>
      </p:cxnSp>
      <p:cxnSp>
        <p:nvCxn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B7C7970-9AFB-4247-9307-B5ADC1836CC2}"/>
              </a:ext>
            </a:extLst>
          </p:cNvPr>
          <p:cNvCxnSpPr>
            <a:stCxn xmlns:a="http://schemas.openxmlformats.org/drawingml/2006/main" id="49" idx="0"/>
            <a:endCxn xmlns:a="http://schemas.openxmlformats.org/drawingml/2006/main" id="12" idx="2"/>
          </p:cNvCxnSpPr>
          <p:nvPr/>
        </p:nvCxnSpPr>
        <p:spPr>
          <a:xfrm xmlns:a="http://schemas.openxmlformats.org/drawingml/2006/main" flipH="1" flipV="1">
            <a:off x="3362325" y="3600450"/>
            <a:ext cx="1857375" cy="4762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7E64C5"/>
            </a:solidFill>
            <a:prstDash val="dash"/>
            <a:tailEnd type="triangle" w="sm" len="sm"/>
          </a:ln>
        </p:spPr>
      </p:cxnSp>
      <p:cxnSp>
        <p:nvCxn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B00F0EF-2E18-45F7-A35C-EAEB60CC4F92}"/>
              </a:ext>
            </a:extLst>
          </p:cNvPr>
          <p:cNvCxnSpPr>
            <a:stCxn xmlns:a="http://schemas.openxmlformats.org/drawingml/2006/main" id="36" idx="3"/>
            <a:endCxn xmlns:a="http://schemas.openxmlformats.org/drawingml/2006/main" id="38" idx="1"/>
          </p:cNvCxnSpPr>
          <p:nvPr/>
        </p:nvCxnSpPr>
        <p:spPr>
          <a:xfrm xmlns:a="http://schemas.openxmlformats.org/drawingml/2006/main" flipV="1">
            <a:off x="10687050" y="2981325"/>
            <a:ext cx="266700" cy="666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F8F5B"/>
            </a:solidFill>
            <a:prstDash val="solid"/>
            <a:tailEnd type="triangle" w="sm" len="sm"/>
          </a:ln>
        </p:spPr>
      </p:cxnSp>
      <p:cxnSp>
        <p:nvCxn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F2067BC-F553-464D-85B9-56C40B44F0FE}"/>
              </a:ext>
            </a:extLst>
          </p:cNvPr>
          <p:cNvCxnSpPr>
            <a:stCxn xmlns:a="http://schemas.openxmlformats.org/drawingml/2006/main" id="35" idx="3"/>
            <a:endCxn xmlns:a="http://schemas.openxmlformats.org/drawingml/2006/main" id="38" idx="1"/>
          </p:cNvCxnSpPr>
          <p:nvPr/>
        </p:nvCxnSpPr>
        <p:spPr>
          <a:xfrm xmlns:a="http://schemas.openxmlformats.org/drawingml/2006/main" flipV="1">
            <a:off x="9639300" y="2981325"/>
            <a:ext cx="1314450" cy="666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F8F5B"/>
            </a:solidFill>
            <a:prstDash val="solid"/>
            <a:tailEnd type="triangle" w="sm" len="sm"/>
          </a:ln>
        </p:spPr>
      </p:cxnSp>
      <p:cxnSp>
        <p:nvCxn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11145C3-D534-4AE6-983B-47900738695B}"/>
              </a:ext>
            </a:extLst>
          </p:cNvPr>
          <p:cNvCxnSpPr>
            <a:stCxn xmlns:a="http://schemas.openxmlformats.org/drawingml/2006/main" id="33" idx="3"/>
            <a:endCxn xmlns:a="http://schemas.openxmlformats.org/drawingml/2006/main" id="37" idx="1"/>
          </p:cNvCxnSpPr>
          <p:nvPr/>
        </p:nvCxnSpPr>
        <p:spPr>
          <a:xfrm xmlns:a="http://schemas.openxmlformats.org/drawingml/2006/main">
            <a:off x="9639300" y="2209800"/>
            <a:ext cx="1314450" cy="1047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F8F5B"/>
            </a:solidFill>
            <a:prstDash val="solid"/>
            <a:tailEnd type="triangle" w="sm" len="sm"/>
          </a:ln>
        </p:spPr>
      </p:cxnSp>
      <p:cxnSp>
        <p:nvCxn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5F749A2-2BB1-42B3-9862-FB3E9B578F4F}"/>
              </a:ext>
            </a:extLst>
          </p:cNvPr>
          <p:cNvCxnSpPr>
            <a:stCxn xmlns:a="http://schemas.openxmlformats.org/drawingml/2006/main" id="23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8477250" y="2676525"/>
            <a:ext cx="1257300" cy="3714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C47A22"/>
            </a:solidFill>
            <a:prstDash val="solid"/>
            <a:tailEnd type="triangle" w="sm" len="sm"/>
          </a:ln>
        </p:spPr>
      </p:cxnSp>
      <p:cxnSp>
        <p:nvCxn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94BB221-C45F-4EF0-B54E-A7A866B94AF7}"/>
              </a:ext>
            </a:extLst>
          </p:cNvPr>
          <p:cNvCxnSpPr>
            <a:stCxn xmlns:a="http://schemas.openxmlformats.org/drawingml/2006/main" id="23" idx="3"/>
            <a:endCxn xmlns:a="http://schemas.openxmlformats.org/drawingml/2006/main" id="35" idx="1"/>
          </p:cNvCxnSpPr>
          <p:nvPr/>
        </p:nvCxnSpPr>
        <p:spPr>
          <a:xfrm xmlns:a="http://schemas.openxmlformats.org/drawingml/2006/main">
            <a:off x="8477250" y="2676525"/>
            <a:ext cx="209550" cy="3714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C47A22"/>
            </a:solidFill>
            <a:prstDash val="solid"/>
            <a:tailEnd type="triangle" w="sm" len="sm"/>
          </a:ln>
        </p:spPr>
      </p:cxnSp>
      <p:cxnSp>
        <p:nvCxn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DA7842B-EF17-4CDF-A5AB-EE8D6B959861}"/>
              </a:ext>
            </a:extLst>
          </p:cNvPr>
          <p:cNvCxnSpPr>
            <a:stCxn xmlns:a="http://schemas.openxmlformats.org/drawingml/2006/main" id="23" idx="3"/>
            <a:endCxn xmlns:a="http://schemas.openxmlformats.org/drawingml/2006/main" id="34" idx="1"/>
          </p:cNvCxnSpPr>
          <p:nvPr/>
        </p:nvCxnSpPr>
        <p:spPr>
          <a:xfrm xmlns:a="http://schemas.openxmlformats.org/drawingml/2006/main" flipV="1">
            <a:off x="8477250" y="2209800"/>
            <a:ext cx="1257300" cy="4667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C47A22"/>
            </a:solidFill>
            <a:prstDash val="solid"/>
            <a:tailEnd type="triangle" w="sm" len="sm"/>
          </a:ln>
        </p:spPr>
      </p:cxnSp>
      <p:cxnSp>
        <p:nvCxn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7472A76-63B2-433A-8F44-BB1A5AA4168D}"/>
              </a:ext>
            </a:extLst>
          </p:cNvPr>
          <p:cNvCxnSpPr>
            <a:stCxn xmlns:a="http://schemas.openxmlformats.org/drawingml/2006/main" id="23" idx="3"/>
            <a:endCxn xmlns:a="http://schemas.openxmlformats.org/drawingml/2006/main" id="33" idx="1"/>
          </p:cNvCxnSpPr>
          <p:nvPr/>
        </p:nvCxnSpPr>
        <p:spPr>
          <a:xfrm xmlns:a="http://schemas.openxmlformats.org/drawingml/2006/main" flipV="1">
            <a:off x="8477250" y="2209800"/>
            <a:ext cx="209550" cy="4667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C47A22"/>
            </a:solidFill>
            <a:prstDash val="solid"/>
            <a:tailEnd type="triangle" w="sm" len="sm"/>
          </a:ln>
        </p:spPr>
      </p:cxnSp>
      <p:cxnSp>
        <p:nvCxn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81C2547-2436-446B-9F4F-DAA01703C9C6}"/>
              </a:ext>
            </a:extLst>
          </p:cNvPr>
          <p:cNvCxnSpPr>
            <a:stCxn xmlns:a="http://schemas.openxmlformats.org/drawingml/2006/main" id="22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5676900" y="26765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E64C5"/>
            </a:solidFill>
            <a:prstDash val="solid"/>
            <a:tailEnd type="triangle" w="sm" len="sm"/>
          </a:ln>
        </p:spPr>
      </p:cxnSp>
      <p:cxnSp>
        <p:nvCxn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9B393F7-1531-4F55-9613-BE5EFBA08CB1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4762500" y="2676525"/>
            <a:ext cx="209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E64C5"/>
            </a:solidFill>
            <a:prstDash val="solid"/>
            <a:tailEnd type="triangle" w="sm" len="sm"/>
          </a:ln>
        </p:spPr>
      </p:cxnSp>
      <p:cxnSp>
        <p:nvCxn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A1588B4-F895-49EA-B072-45A583018BA0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1695450" y="2657475"/>
            <a:ext cx="2667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7C2D3"/>
            </a:solidFill>
            <a:prstDash val="solid"/>
            <a:tailEnd type="triangle" w="sm" len="sm"/>
          </a:ln>
        </p:spPr>
      </p:cxn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F7D8001-598B-48B5-9CFE-7381987F2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809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100" b="1">
                <a:solidFill>
                  <a:srgbClr val="27345C"/>
                </a:solidFill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27345C"/>
                </a:solidFill>
              </a:defRPr>
            </a:pPr>
            <a:r>
              <a:rPr sz="2100" b="1">
                <a:solidFill>
                  <a:srgbClr val="27345C"/>
                </a:solidFill>
              </a:rPr>
              <a:t>Nexent × LightRAG 故障树系统架构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50E0F1-CA71-44FB-9378-DA6DD9DB6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14375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125" b="0">
                <a:solidFill>
                  <a:srgbClr val="64748B"/>
                </a:solidFill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以 Agent 编排串起知识检索、故障树生成与专家审核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8FEFE5-B1C6-45AA-B435-FD50A8BD7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975" b="0">
                <a:solidFill>
                  <a:srgbClr val="64748B"/>
                </a:solidFill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01</a:t>
            </a:r>
          </a:p>
        </p:txBody>
      </p:sp>
      <p:cxnSp>
        <p:nvCxn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B09954-D9F0-4769-BD4A-2E957F982A38}"/>
              </a:ext>
            </a:extLst>
          </p:cNvPr>
          <p:cNvCxnSpPr/>
          <p:nvPr/>
        </p:nvCxnSpPr>
        <p:spPr>
          <a:xfrm xmlns:a="http://schemas.openxmlformats.org/drawingml/2006/main">
            <a:off x="533400" y="106680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6DDE8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1A7860-ECBB-4BE7-9999-797F6E63C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75" b="1">
                <a:solidFill>
                  <a:srgbClr val="64748B"/>
                </a:solidFill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64748B"/>
                </a:solidFill>
              </a:defRPr>
            </a:pPr>
            <a:r>
              <a:rPr sz="975" b="1">
                <a:solidFill>
                  <a:srgbClr val="64748B"/>
                </a:solidFill>
              </a:rPr>
              <a:t>输入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AD5138-2452-44D1-955D-EAD280492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3525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75" b="1">
                <a:solidFill>
                  <a:srgbClr val="5B7CFA"/>
                </a:solidFill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5B7CFA"/>
                </a:solidFill>
              </a:defRPr>
            </a:pPr>
            <a:r>
              <a:rPr sz="975" b="1">
                <a:solidFill>
                  <a:srgbClr val="5B7CFA"/>
                </a:solidFill>
              </a:rPr>
              <a:t>智能体编排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4533EB-3B03-449F-B1CC-FA8C184A2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3525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75" b="1">
                <a:solidFill>
                  <a:srgbClr val="7E64C5"/>
                </a:solidFill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7E64C5"/>
                </a:solidFill>
              </a:defRPr>
            </a:pPr>
            <a:r>
              <a:rPr sz="975" b="1">
                <a:solidFill>
                  <a:srgbClr val="7E64C5"/>
                </a:solidFill>
              </a:rPr>
              <a:t>工具接口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0DFA57-3616-401D-AA43-FD7755248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3525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75" b="1">
                <a:solidFill>
                  <a:srgbClr val="1E9A9A"/>
                </a:solidFill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1E9A9A"/>
                </a:solidFill>
              </a:defRPr>
            </a:pPr>
            <a:r>
              <a:rPr sz="975" b="1">
                <a:solidFill>
                  <a:srgbClr val="1E9A9A"/>
                </a:solidFill>
              </a:rPr>
              <a:t>领域服务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468122-BA5D-46D4-A098-7A493E5D6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3525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75" b="1">
                <a:solidFill>
                  <a:srgbClr val="C47A22"/>
                </a:solidFill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C47A22"/>
                </a:solidFill>
              </a:defRPr>
            </a:pPr>
            <a:r>
              <a:rPr sz="975" b="1">
                <a:solidFill>
                  <a:srgbClr val="C47A22"/>
                </a:solidFill>
              </a:rPr>
              <a:t>知识与业务数据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0655F2-6E14-436A-B1E0-BE908A441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13525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75" b="1">
                <a:solidFill>
                  <a:srgbClr val="2F8F5B"/>
                </a:solidFill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2F8F5B"/>
                </a:solidFill>
              </a:defRPr>
            </a:pPr>
            <a:r>
              <a:rPr sz="975" b="1">
                <a:solidFill>
                  <a:srgbClr val="2F8F5B"/>
                </a:solidFill>
              </a:rPr>
              <a:t>输出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E9A0E6-14BF-4011-AB11-B585C6949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38350"/>
            <a:ext cx="1162050" cy="1238250"/>
          </a:xfrm>
          <a:prstGeom xmlns:a="http://schemas.openxmlformats.org/drawingml/2006/main" prst="roundRect">
            <a:avLst>
              <a:gd name="adj" fmla="val 114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ctr">
              <a:defRPr sz="1500" b="1">
                <a:solidFill>
                  <a:srgbClr val="27345C"/>
                </a:solidFill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27345C"/>
                </a:solidFill>
              </a:defRPr>
            </a:pPr>
            <a:r>
              <a:rPr sz="1500" b="1">
                <a:solidFill>
                  <a:srgbClr val="27345C"/>
                </a:solidFill>
              </a:rPr>
              <a:t>设备文档</a:t>
            </a:r>
          </a:p>
          <a:p xmlns:a="http://schemas.openxmlformats.org/drawingml/2006/main">
            <a:pPr algn="ctr">
              <a:defRPr sz="1500" b="1">
                <a:solidFill>
                  <a:srgbClr val="27345C"/>
                </a:solidFill>
              </a:defRPr>
            </a:pPr>
            <a:r>
              <a:rPr sz="1500" b="1">
                <a:solidFill>
                  <a:srgbClr val="27345C"/>
                </a:solidFill>
              </a:rPr>
              <a:t>+ 顶事件</a:t>
            </a:r>
          </a:p>
        </p:txBody>
      </p:sp>
      <p:sp>
        <p:nvSpPr>
          <p:cNvPr id="12" name="nexent-layer">
            <a:extLst xmlns:a="http://schemas.openxmlformats.org/drawingml/2006/main">
              <a:ext uri="{FF2B5EF4-FFF2-40B4-BE49-F238E27FC236}">
                <a16:creationId xmlns:a16="http://schemas.microsoft.com/office/drawing/2014/main" id="{62A312EE-4773-4ABF-A855-B3DD52A2B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752600"/>
            <a:ext cx="2800350" cy="1847850"/>
          </a:xfrm>
          <a:prstGeom xmlns:a="http://schemas.openxmlformats.org/drawingml/2006/main" prst="roundRect">
            <a:avLst>
              <a:gd name="adj" fmla="val 9278"/>
            </a:avLst>
          </a:prstGeom>
          <a:solidFill xmlns:a="http://schemas.openxmlformats.org/drawingml/2006/main">
            <a:srgbClr val="E8EDFF"/>
          </a:solidFill>
          <a:ln xmlns:a="http://schemas.openxmlformats.org/drawingml/2006/main" w="14288">
            <a:solidFill>
              <a:srgbClr val="B8C6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DC7016-BABC-4AD6-8AE8-FB46D1E2A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8859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500" b="1">
                <a:solidFill>
                  <a:srgbClr val="5B7CFA"/>
                </a:solidFill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5B7CFA"/>
                </a:solidFill>
              </a:defRPr>
            </a:pPr>
            <a:r>
              <a:rPr sz="1500" b="1">
                <a:solidFill>
                  <a:srgbClr val="5B7CFA"/>
                </a:solidFill>
              </a:rPr>
              <a:t>Nexent Agent 编排层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473ACF-240D-4452-B4AD-452B4337A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286000"/>
            <a:ext cx="1104900" cy="400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8D3FF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ctr">
              <a:defRPr sz="1050" b="1">
                <a:solidFill>
                  <a:srgbClr val="5B7CFA"/>
                </a:solidFill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5B7CFA"/>
                </a:solidFill>
              </a:defRPr>
            </a:pPr>
            <a:r>
              <a:rPr sz="1050" b="1">
                <a:solidFill>
                  <a:srgbClr val="5B7CFA"/>
                </a:solidFill>
              </a:rPr>
              <a:t>文档分析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370400-92AB-48E0-A33E-A6FA41B72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286000"/>
            <a:ext cx="1276350" cy="400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8D3FF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ctr">
              <a:defRPr sz="1050" b="1">
                <a:solidFill>
                  <a:srgbClr val="5B7CFA"/>
                </a:solidFill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5B7CFA"/>
                </a:solidFill>
              </a:defRPr>
            </a:pPr>
            <a:r>
              <a:rPr sz="1050" b="1">
                <a:solidFill>
                  <a:srgbClr val="5B7CFA"/>
                </a:solidFill>
              </a:rPr>
              <a:t>检索 / 抽取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3C16F2-1550-41B0-88EF-C5684BCA4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800350"/>
            <a:ext cx="1104900" cy="400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8D3FF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ctr">
              <a:defRPr sz="1050" b="1">
                <a:solidFill>
                  <a:srgbClr val="5B7CFA"/>
                </a:solidFill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5B7CFA"/>
                </a:solidFill>
              </a:defRPr>
            </a:pPr>
            <a:r>
              <a:rPr sz="1050" b="1">
                <a:solidFill>
                  <a:srgbClr val="5B7CFA"/>
                </a:solidFill>
              </a:rPr>
              <a:t>校验 / 修复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552A68-477D-4239-8779-C9553B1DF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00350"/>
            <a:ext cx="1276350" cy="400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8D3FF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ctr">
              <a:defRPr sz="1050" b="1">
                <a:solidFill>
                  <a:srgbClr val="5B7CFA"/>
                </a:solidFill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5B7CFA"/>
                </a:solidFill>
              </a:defRPr>
            </a:pPr>
            <a:r>
              <a:rPr sz="1050" b="1">
                <a:solidFill>
                  <a:srgbClr val="5B7CFA"/>
                </a:solidFill>
              </a:rPr>
              <a:t>生成 / 审核</a:t>
            </a:r>
          </a:p>
        </p:txBody>
      </p: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D348B9-102E-44CB-AAAD-9C22B92798F7}"/>
              </a:ext>
            </a:extLst>
          </p:cNvPr>
          <p:cNvCxnSpPr/>
          <p:nvPr/>
        </p:nvCxnSpPr>
        <p:spPr>
          <a:xfrm xmlns:a="http://schemas.openxmlformats.org/drawingml/2006/main">
            <a:off x="3219450" y="2486025"/>
            <a:ext cx="1143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5B7CFA"/>
            </a:solidFill>
            <a:prstDash val="solid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32DC66-FA42-485F-A858-15C0098F59B9}"/>
              </a:ext>
            </a:extLst>
          </p:cNvPr>
          <p:cNvCxnSpPr/>
          <p:nvPr/>
        </p:nvCxnSpPr>
        <p:spPr>
          <a:xfrm xmlns:a="http://schemas.openxmlformats.org/drawingml/2006/main">
            <a:off x="2667000" y="2686050"/>
            <a:ext cx="95" cy="1143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5B7CFA"/>
            </a:solidFill>
            <a:prstDash val="solid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2B4369-E292-4C62-BE0B-68EB61BDCFFA}"/>
              </a:ext>
            </a:extLst>
          </p:cNvPr>
          <p:cNvCxnSpPr/>
          <p:nvPr/>
        </p:nvCxnSpPr>
        <p:spPr>
          <a:xfrm xmlns:a="http://schemas.openxmlformats.org/drawingml/2006/main">
            <a:off x="3924300" y="2686050"/>
            <a:ext cx="95" cy="1143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5B7CFA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AE6197-2DE4-4343-85D5-ACFB8AC46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3147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900" b="0">
                <a:solidFill>
                  <a:srgbClr val="64748B"/>
                </a:solidFill>
              </a:defRPr>
            </a:defPPr>
          </a:lstStyle>
          <a:p xmlns:a="http://schemas.openxmlformats.org/drawingml/2006/main">
            <a:pPr algn="ctr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低置信度返工 · 专家确认 · 评测迭代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AD5308-25FC-4176-81FF-4EA5426F9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238375"/>
            <a:ext cx="704850" cy="876300"/>
          </a:xfrm>
          <a:prstGeom xmlns:a="http://schemas.openxmlformats.org/drawingml/2006/main" prst="roundRect">
            <a:avLst>
              <a:gd name="adj" fmla="val 18919"/>
            </a:avLst>
          </a:prstGeom>
          <a:solidFill xmlns:a="http://schemas.openxmlformats.org/drawingml/2006/main">
            <a:srgbClr val="F0EAFF"/>
          </a:solidFill>
          <a:ln xmlns:a="http://schemas.openxmlformats.org/drawingml/2006/main" w="11430">
            <a:solidFill>
              <a:srgbClr val="CBBDF0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ctr">
              <a:defRPr sz="1275" b="1">
                <a:solidFill>
                  <a:srgbClr val="7E64C5"/>
                </a:solidFill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7E64C5"/>
                </a:solidFill>
              </a:defRPr>
            </a:pPr>
            <a:r>
              <a:rPr sz="1275" b="1">
                <a:solidFill>
                  <a:srgbClr val="7E64C5"/>
                </a:solidFill>
              </a:rPr>
              <a:t>MCP</a:t>
            </a:r>
          </a:p>
          <a:p xmlns:a="http://schemas.openxmlformats.org/drawingml/2006/main">
            <a:pPr algn="ctr">
              <a:defRPr sz="1275" b="1">
                <a:solidFill>
                  <a:srgbClr val="7E64C5"/>
                </a:solidFill>
              </a:defRPr>
            </a:pPr>
            <a:r>
              <a:rPr sz="1275" b="1">
                <a:solidFill>
                  <a:srgbClr val="7E64C5"/>
                </a:solidFill>
              </a:rPr>
              <a:t>/ API</a:t>
            </a:r>
          </a:p>
        </p:txBody>
      </p:sp>
      <p:sp>
        <p:nvSpPr>
          <p:cNvPr id="23" name="service-layer">
            <a:extLst xmlns:a="http://schemas.openxmlformats.org/drawingml/2006/main">
              <a:ext uri="{FF2B5EF4-FFF2-40B4-BE49-F238E27FC236}">
                <a16:creationId xmlns:a16="http://schemas.microsoft.com/office/drawing/2014/main" id="{796DD04B-9008-47EB-BBAF-02E0FB1D2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52600"/>
            <a:ext cx="2571750" cy="1847850"/>
          </a:xfrm>
          <a:prstGeom xmlns:a="http://schemas.openxmlformats.org/drawingml/2006/main" prst="roundRect">
            <a:avLst>
              <a:gd name="adj" fmla="val 9278"/>
            </a:avLst>
          </a:prstGeom>
          <a:solidFill xmlns:a="http://schemas.openxmlformats.org/drawingml/2006/main">
            <a:srgbClr val="E1F5F3"/>
          </a:solidFill>
          <a:ln xmlns:a="http://schemas.openxmlformats.org/drawingml/2006/main" w="14288">
            <a:solidFill>
              <a:srgbClr val="A6DE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3AEF1C-7291-4437-88A8-43D000139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885950"/>
            <a:ext cx="226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425" b="1">
                <a:solidFill>
                  <a:srgbClr val="1E9A9A"/>
                </a:solidFill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1E9A9A"/>
                </a:solidFill>
              </a:defRPr>
            </a:pPr>
            <a:r>
              <a:rPr sz="1425" b="1">
                <a:solidFill>
                  <a:srgbClr val="1E9A9A"/>
                </a:solidFill>
              </a:rPr>
              <a:t>LightRAG + 故障树服务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5EEB00-E0FF-4A0A-8FE5-D436D1626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286000"/>
            <a:ext cx="1047750" cy="400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4E3DF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ctr">
              <a:defRPr sz="975" b="1">
                <a:solidFill>
                  <a:srgbClr val="1E9A9A"/>
                </a:solidFill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1E9A9A"/>
                </a:solidFill>
              </a:defRPr>
            </a:pPr>
            <a:r>
              <a:rPr sz="975" b="1">
                <a:solidFill>
                  <a:srgbClr val="1E9A9A"/>
                </a:solidFill>
              </a:rPr>
              <a:t>解析 / 分块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7E2BDF3-66A6-4F9A-97F0-EAADAEEA7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86000"/>
            <a:ext cx="1047750" cy="400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4E3DF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ctr">
              <a:defRPr sz="975" b="1">
                <a:solidFill>
                  <a:srgbClr val="1E9A9A"/>
                </a:solidFill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1E9A9A"/>
                </a:solidFill>
              </a:defRPr>
            </a:pPr>
            <a:r>
              <a:rPr sz="975" b="1">
                <a:solidFill>
                  <a:srgbClr val="1E9A9A"/>
                </a:solidFill>
              </a:rPr>
              <a:t>混合检索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19B72B0-D3FD-4F45-B876-9A0456283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800350"/>
            <a:ext cx="1047750" cy="400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4E3DF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ctr">
              <a:defRPr sz="975" b="1">
                <a:solidFill>
                  <a:srgbClr val="1E9A9A"/>
                </a:solidFill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1E9A9A"/>
                </a:solidFill>
              </a:defRPr>
            </a:pPr>
            <a:r>
              <a:rPr sz="975" b="1">
                <a:solidFill>
                  <a:srgbClr val="1E9A9A"/>
                </a:solidFill>
              </a:rPr>
              <a:t>事件 / 关系抽取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5EC6E0A-2E34-40CA-8230-936101B17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00350"/>
            <a:ext cx="1047750" cy="400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4E3DF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ctr">
              <a:defRPr sz="975" b="1">
                <a:solidFill>
                  <a:srgbClr val="1E9A9A"/>
                </a:solidFill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1E9A9A"/>
                </a:solidFill>
              </a:defRPr>
            </a:pPr>
            <a:r>
              <a:rPr sz="975" b="1">
                <a:solidFill>
                  <a:srgbClr val="1E9A9A"/>
                </a:solidFill>
              </a:rPr>
              <a:t>投影 / 规则校验</a:t>
            </a:r>
          </a:p>
        </p:txBody>
      </p:sp>
      <p:cxnSp>
        <p:nvCxn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8A23208-E054-44B4-935B-89E8721043A1}"/>
              </a:ext>
            </a:extLst>
          </p:cNvPr>
          <p:cNvCxnSpPr/>
          <p:nvPr/>
        </p:nvCxnSpPr>
        <p:spPr>
          <a:xfrm xmlns:a="http://schemas.openxmlformats.org/drawingml/2006/main">
            <a:off x="7105650" y="2486025"/>
            <a:ext cx="1333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1E9A9A"/>
            </a:solidFill>
            <a:prstDash val="solid"/>
          </a:ln>
        </p:spPr>
      </p:cxnSp>
      <p:cxnSp>
        <p:nvCxn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5AB1C9D-FF01-481E-AB55-1260EC2A6F79}"/>
              </a:ext>
            </a:extLst>
          </p:cNvPr>
          <p:cNvCxnSpPr/>
          <p:nvPr/>
        </p:nvCxnSpPr>
        <p:spPr>
          <a:xfrm xmlns:a="http://schemas.openxmlformats.org/drawingml/2006/main">
            <a:off x="6581775" y="2686050"/>
            <a:ext cx="95" cy="1143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1E9A9A"/>
            </a:solidFill>
            <a:prstDash val="solid"/>
          </a:ln>
        </p:spPr>
      </p:cxnSp>
      <p:cxnSp>
        <p:nvCxn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F5988A4-B1D8-4985-9B9A-49BD80B2F700}"/>
              </a:ext>
            </a:extLst>
          </p:cNvPr>
          <p:cNvCxnSpPr/>
          <p:nvPr/>
        </p:nvCxnSpPr>
        <p:spPr>
          <a:xfrm xmlns:a="http://schemas.openxmlformats.org/drawingml/2006/main">
            <a:off x="7762875" y="2686050"/>
            <a:ext cx="95" cy="1143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1E9A9A"/>
            </a:solidFill>
            <a:prstDash val="solid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40B30A3-830E-444F-9ACE-D5762329E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314700"/>
            <a:ext cx="2266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900" b="0">
                <a:solidFill>
                  <a:srgbClr val="64748B"/>
                </a:solidFill>
              </a:defRPr>
            </a:defPPr>
          </a:lstStyle>
          <a:p xmlns:a="http://schemas.openxmlformats.org/drawingml/2006/main">
            <a:pPr algn="ctr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保留现有 LightRAG 内核，补足领域服务边界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63F011D-E5BB-47FE-9461-4EE6DE7CB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885950"/>
            <a:ext cx="952500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FFF0D7"/>
          </a:solidFill>
          <a:ln xmlns:a="http://schemas.openxmlformats.org/drawingml/2006/main" w="11430">
            <a:solidFill>
              <a:srgbClr val="F0C989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ctr">
              <a:defRPr sz="975" b="1">
                <a:solidFill>
                  <a:srgbClr val="C47A22"/>
                </a:solidFill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C47A22"/>
                </a:solidFill>
              </a:defRPr>
            </a:pPr>
            <a:r>
              <a:rPr sz="975" b="1">
                <a:solidFill>
                  <a:srgbClr val="C47A22"/>
                </a:solidFill>
              </a:rPr>
              <a:t>原始文档</a:t>
            </a:r>
          </a:p>
          <a:p xmlns:a="http://schemas.openxmlformats.org/drawingml/2006/main">
            <a:pPr algn="ctr">
              <a:defRPr sz="975" b="1">
                <a:solidFill>
                  <a:srgbClr val="C47A22"/>
                </a:solidFill>
              </a:defRPr>
            </a:pPr>
            <a:r>
              <a:rPr sz="975" b="1">
                <a:solidFill>
                  <a:srgbClr val="C47A22"/>
                </a:solidFill>
              </a:rPr>
              <a:t>对象存储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3E39675-6014-4678-86BF-5F6E41DD2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1885950"/>
            <a:ext cx="952500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FFF0D7"/>
          </a:solidFill>
          <a:ln xmlns:a="http://schemas.openxmlformats.org/drawingml/2006/main" w="11430">
            <a:solidFill>
              <a:srgbClr val="F0C989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ctr">
              <a:defRPr sz="975" b="1">
                <a:solidFill>
                  <a:srgbClr val="C47A22"/>
                </a:solidFill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C47A22"/>
                </a:solidFill>
              </a:defRPr>
            </a:pPr>
            <a:r>
              <a:rPr sz="975" b="1">
                <a:solidFill>
                  <a:srgbClr val="C47A22"/>
                </a:solidFill>
              </a:rPr>
              <a:t>向量索引</a:t>
            </a:r>
          </a:p>
          <a:p xmlns:a="http://schemas.openxmlformats.org/drawingml/2006/main">
            <a:pPr algn="ctr">
              <a:defRPr sz="975" b="1">
                <a:solidFill>
                  <a:srgbClr val="C47A22"/>
                </a:solidFill>
              </a:defRPr>
            </a:pPr>
            <a:r>
              <a:rPr sz="975" b="1">
                <a:solidFill>
                  <a:srgbClr val="C47A22"/>
                </a:solidFill>
              </a:rPr>
              <a:t>语义检索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CB47B7A-9219-465A-B46D-00E64B98D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724150"/>
            <a:ext cx="952500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FFF0D7"/>
          </a:solidFill>
          <a:ln xmlns:a="http://schemas.openxmlformats.org/drawingml/2006/main" w="11430">
            <a:solidFill>
              <a:srgbClr val="F0C989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ctr">
              <a:defRPr sz="975" b="1">
                <a:solidFill>
                  <a:srgbClr val="C47A22"/>
                </a:solidFill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C47A22"/>
                </a:solidFill>
              </a:defRPr>
            </a:pPr>
            <a:r>
              <a:rPr sz="975" b="1">
                <a:solidFill>
                  <a:srgbClr val="C47A22"/>
                </a:solidFill>
              </a:rPr>
              <a:t>知识图谱</a:t>
            </a:r>
          </a:p>
          <a:p xmlns:a="http://schemas.openxmlformats.org/drawingml/2006/main">
            <a:pPr algn="ctr">
              <a:defRPr sz="975" b="1">
                <a:solidFill>
                  <a:srgbClr val="C47A22"/>
                </a:solidFill>
              </a:defRPr>
            </a:pPr>
            <a:r>
              <a:rPr sz="975" b="1">
                <a:solidFill>
                  <a:srgbClr val="C47A22"/>
                </a:solidFill>
              </a:rPr>
              <a:t>事件 / 因果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08B17D3-8CB2-4498-88ED-470CD7B2F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724150"/>
            <a:ext cx="952500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FFF0D7"/>
          </a:solidFill>
          <a:ln xmlns:a="http://schemas.openxmlformats.org/drawingml/2006/main" w="11430">
            <a:solidFill>
              <a:srgbClr val="F0C989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ctr">
              <a:defRPr sz="900" b="1">
                <a:solidFill>
                  <a:srgbClr val="C47A22"/>
                </a:solidFill>
              </a:defRPr>
            </a:defPPr>
          </a:lstStyle>
          <a:p xmlns:a="http://schemas.openxmlformats.org/drawingml/2006/main">
            <a:pPr algn="ctr">
              <a:defRPr sz="900" b="1">
                <a:solidFill>
                  <a:srgbClr val="C47A22"/>
                </a:solidFill>
              </a:defRPr>
            </a:pPr>
            <a:r>
              <a:rPr sz="900" b="1">
                <a:solidFill>
                  <a:srgbClr val="C47A22"/>
                </a:solidFill>
              </a:rPr>
              <a:t>业务数据库</a:t>
            </a:r>
          </a:p>
          <a:p xmlns:a="http://schemas.openxmlformats.org/drawingml/2006/main">
            <a:pPr algn="ctr">
              <a:defRPr sz="900" b="1">
                <a:solidFill>
                  <a:srgbClr val="C47A22"/>
                </a:solidFill>
              </a:defRPr>
            </a:pPr>
            <a:r>
              <a:rPr sz="900" b="1">
                <a:solidFill>
                  <a:srgbClr val="C47A22"/>
                </a:solidFill>
              </a:rPr>
              <a:t>草稿 / 版本 / 审核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ADAE8B5-8415-4B9F-91D4-60DDAC435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038350"/>
            <a:ext cx="7620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E4F5EA"/>
          </a:solidFill>
          <a:ln xmlns:a="http://schemas.openxmlformats.org/drawingml/2006/main" w="11430">
            <a:solidFill>
              <a:srgbClr val="AEDCC0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ctr">
              <a:defRPr sz="1200" b="1">
                <a:solidFill>
                  <a:srgbClr val="2F8F5B"/>
                </a:solidFill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2F8F5B"/>
                </a:solidFill>
              </a:defRPr>
            </a:pPr>
            <a:r>
              <a:rPr sz="1200" b="1">
                <a:solidFill>
                  <a:srgbClr val="2F8F5B"/>
                </a:solidFill>
              </a:rPr>
              <a:t>故障树</a:t>
            </a:r>
          </a:p>
          <a:p xmlns:a="http://schemas.openxmlformats.org/drawingml/2006/main">
            <a:pPr algn="ctr">
              <a:defRPr sz="1200" b="1">
                <a:solidFill>
                  <a:srgbClr val="2F8F5B"/>
                </a:solidFill>
              </a:defRPr>
            </a:pPr>
            <a:r>
              <a:rPr sz="1200" b="1">
                <a:solidFill>
                  <a:srgbClr val="2F8F5B"/>
                </a:solidFill>
              </a:rPr>
              <a:t>草稿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5596FF2-C86B-481B-B029-8FB564B76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705100"/>
            <a:ext cx="7620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E4F5EA"/>
          </a:solidFill>
          <a:ln xmlns:a="http://schemas.openxmlformats.org/drawingml/2006/main" w="11430">
            <a:solidFill>
              <a:srgbClr val="AEDCC0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ctr">
              <a:defRPr sz="1050" b="1">
                <a:solidFill>
                  <a:srgbClr val="2F8F5B"/>
                </a:solidFill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2F8F5B"/>
                </a:solidFill>
              </a:defRPr>
            </a:pPr>
            <a:r>
              <a:rPr sz="1050" b="1">
                <a:solidFill>
                  <a:srgbClr val="2F8F5B"/>
                </a:solidFill>
              </a:rPr>
              <a:t>证据链</a:t>
            </a:r>
          </a:p>
          <a:p xmlns:a="http://schemas.openxmlformats.org/drawingml/2006/main">
            <a:pPr algn="ctr">
              <a:defRPr sz="1050" b="1">
                <a:solidFill>
                  <a:srgbClr val="2F8F5B"/>
                </a:solidFill>
              </a:defRPr>
            </a:pPr>
            <a:r>
              <a:rPr sz="1050" b="1">
                <a:solidFill>
                  <a:srgbClr val="2F8F5B"/>
                </a:solidFill>
              </a:rPr>
              <a:t>+ 校验结果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03D02AD-1718-4977-A332-EE8D731C2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076700"/>
            <a:ext cx="6515100" cy="514350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ctr">
              <a:defRPr sz="1200" b="1">
                <a:solidFill>
                  <a:srgbClr val="7E64C5"/>
                </a:solidFill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7E64C5"/>
                </a:solidFill>
              </a:defRPr>
            </a:pPr>
            <a:r>
              <a:rPr sz="1200" b="1">
                <a:solidFill>
                  <a:srgbClr val="7E64C5"/>
                </a:solidFill>
              </a:rPr>
              <a:t>SKILL：抽取规范 · 故障树建模 · 校验规则 · 评测规范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5A921F6-44D5-4617-9D1A-6939A30EA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648200"/>
            <a:ext cx="6172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900" b="0">
                <a:solidFill>
                  <a:srgbClr val="64748B"/>
                </a:solidFill>
              </a:defRPr>
            </a:defPPr>
          </a:lstStyle>
          <a:p xmlns:a="http://schemas.openxmlformats.org/drawingml/2006/main">
            <a:pPr algn="ctr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贯穿 Agent 决策与领域服务调用</a:t>
            </a:r>
          </a:p>
        </p:txBody>
      </p:sp>
      <p:cxnSp>
        <p:nvCxn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6F11C59-47CB-436F-AA20-BABA95340F99}"/>
              </a:ext>
            </a:extLst>
          </p:cNvPr>
          <p:cNvCxnSpPr/>
          <p:nvPr/>
        </p:nvCxnSpPr>
        <p:spPr>
          <a:xfrm xmlns:a="http://schemas.openxmlformats.org/drawingml/2006/main">
            <a:off x="11696700" y="3276600"/>
            <a:ext cx="95" cy="17526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F8F5B"/>
            </a:solidFill>
            <a:prstDash val="dash"/>
          </a:ln>
        </p:spPr>
      </p:cxnSp>
      <p:cxnSp>
        <p:nvCxn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7E4EAD0-8599-4A50-BE6E-DAA818526D45}"/>
              </a:ext>
            </a:extLst>
          </p:cNvPr>
          <p:cNvCxnSpPr/>
          <p:nvPr/>
        </p:nvCxnSpPr>
        <p:spPr>
          <a:xfrm xmlns:a="http://schemas.openxmlformats.org/drawingml/2006/main">
            <a:off x="3429000" y="5029200"/>
            <a:ext cx="82677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F8F5B"/>
            </a:solidFill>
            <a:prstDash val="dash"/>
          </a:ln>
        </p:spPr>
      </p:cxn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8FACF5F-58B2-4DC2-92E2-779325A16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8196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975" b="0">
                <a:solidFill>
                  <a:srgbClr val="2F8F5B"/>
                </a:solidFill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2F8F5B"/>
                </a:solidFill>
              </a:defRPr>
            </a:pPr>
            <a:r>
              <a:rPr sz="975" b="0">
                <a:solidFill>
                  <a:srgbClr val="2F8F5B"/>
                </a:solidFill>
              </a:rPr>
              <a:t>人工审核与评测反馈回流 Agent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17998F9-2267-47F8-BA7F-40561A103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674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1">
                <a:solidFill>
                  <a:srgbClr val="27345C"/>
                </a:solidFill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27345C"/>
                </a:solidFill>
              </a:defRPr>
            </a:pPr>
            <a:r>
              <a:rPr sz="1350" b="1">
                <a:solidFill>
                  <a:srgbClr val="27345C"/>
                </a:solidFill>
              </a:rPr>
              <a:t>保留内核，重构边界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2D16E85-843E-480F-AF36-898AFDE69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817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125" b="0">
                <a:solidFill>
                  <a:srgbClr val="64748B"/>
                </a:solidFill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Nexent 负责编排与治理，LightRAG 负责检索与知识处理，故障树服务负责领域逻辑</a:t>
            </a:r>
          </a:p>
        </p:txBody>
      </p:sp>
    </p:spTree>
    <p:extLst>
      <p:ext uri="{BB962C8B-B14F-4D97-AF65-F5344CB8AC3E}">
        <p14:creationId xmlns:p14="http://schemas.microsoft.com/office/powerpoint/2010/main" val="70876498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AD00B1E-211D-41C1-9A78-CC57AEDD9C28}"/>
              </a:ext>
            </a:extLst>
          </p:cNvPr>
          <p:cNvCxnSpPr>
            <a:stCxn xmlns:a="http://schemas.openxmlformats.org/drawingml/2006/main" id="21" idx="0"/>
            <a:endCxn xmlns:a="http://schemas.openxmlformats.org/drawingml/2006/main" id="18" idx="2"/>
          </p:cNvCxnSpPr>
          <p:nvPr/>
        </p:nvCxnSpPr>
        <p:spPr>
          <a:xfrm xmlns:a="http://schemas.openxmlformats.org/drawingml/2006/main" flipV="1">
            <a:off x="8524875" y="2762250"/>
            <a:ext cx="0" cy="5524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B7C2D3"/>
            </a:solidFill>
            <a:prstDash val="solid"/>
            <a:tailEnd type="triangle" w="sm" len="sm"/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D552E1-44A4-4F91-97F7-346D4A9686B6}"/>
              </a:ext>
            </a:extLst>
          </p:cNvPr>
          <p:cNvCxnSpPr>
            <a:stCxn xmlns:a="http://schemas.openxmlformats.org/drawingml/2006/main" id="20" idx="1"/>
            <a:endCxn xmlns:a="http://schemas.openxmlformats.org/drawingml/2006/main" id="21" idx="3"/>
          </p:cNvCxnSpPr>
          <p:nvPr/>
        </p:nvCxnSpPr>
        <p:spPr>
          <a:xfrm xmlns:a="http://schemas.openxmlformats.org/drawingml/2006/main" flipH="1">
            <a:off x="9029700" y="3629025"/>
            <a:ext cx="5905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B7C2D3"/>
            </a:solidFill>
            <a:prstDash val="solid"/>
            <a:tailEnd type="triangle" w="sm" len="sm"/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9EAE6C-B966-43BA-AA70-46DFE46DC4D1}"/>
              </a:ext>
            </a:extLst>
          </p:cNvPr>
          <p:cNvCxnSpPr>
            <a:stCxn xmlns:a="http://schemas.openxmlformats.org/drawingml/2006/main" id="19" idx="2"/>
            <a:endCxn xmlns:a="http://schemas.openxmlformats.org/drawingml/2006/main" id="20" idx="0"/>
          </p:cNvCxnSpPr>
          <p:nvPr/>
        </p:nvCxnSpPr>
        <p:spPr>
          <a:xfrm xmlns:a="http://schemas.openxmlformats.org/drawingml/2006/main">
            <a:off x="10125075" y="2762250"/>
            <a:ext cx="0" cy="5524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B7C2D3"/>
            </a:solidFill>
            <a:prstDash val="solid"/>
            <a:tailEnd type="triangle" w="sm" len="sm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CD8C91-E8D6-4034-9CBA-22CA46C85BEA}"/>
              </a:ext>
            </a:extLst>
          </p:cNvPr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9029700" y="2447925"/>
            <a:ext cx="5905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B7C2D3"/>
            </a:solidFill>
            <a:prstDash val="solid"/>
            <a:tailEnd type="triangle" w="sm" len="sm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C10C54F-4411-45A0-B7ED-D5D8BCAFB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809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100" b="1">
                <a:solidFill>
                  <a:srgbClr val="27345C"/>
                </a:solidFill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27345C"/>
                </a:solidFill>
              </a:defRPr>
            </a:pPr>
            <a:r>
              <a:rPr sz="2100" b="1">
                <a:solidFill>
                  <a:srgbClr val="27345C"/>
                </a:solidFill>
              </a:rPr>
              <a:t>架构图的核心逻辑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D820F3-6BA1-46FD-9C74-6D71B9C5C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14375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125" b="0">
                <a:solidFill>
                  <a:srgbClr val="64748B"/>
                </a:solidFill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一条主链路，三个边界，形成可审核的故障树生成闭环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93E084-669A-498B-BAC3-651C17628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975" b="0">
                <a:solidFill>
                  <a:srgbClr val="64748B"/>
                </a:solidFill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02</a:t>
            </a:r>
          </a:p>
        </p:txBody>
      </p:sp>
      <p:cxnSp>
        <p:nvCxn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B5B0CD-223D-4836-A726-3DDF6BE648C9}"/>
              </a:ext>
            </a:extLst>
          </p:cNvPr>
          <p:cNvCxnSpPr/>
          <p:nvPr/>
        </p:nvCxnSpPr>
        <p:spPr>
          <a:xfrm xmlns:a="http://schemas.openxmlformats.org/drawingml/2006/main">
            <a:off x="533400" y="106680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6DDE8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1D10EB-EA9E-4B3A-AD4A-7D6C1E68E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4381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DFF"/>
          </a:solidFill>
          <a:ln xmlns:a="http://schemas.openxmlformats.org/drawingml/2006/main" w="11430">
            <a:solidFill>
              <a:srgbClr val="5B7CFA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ctr">
              <a:defRPr sz="1650" b="1">
                <a:solidFill>
                  <a:srgbClr val="5B7CFA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5B7CFA"/>
                </a:solidFill>
              </a:defRPr>
            </a:pPr>
            <a:r>
              <a:rPr sz="1650" b="1">
                <a:solidFill>
                  <a:srgbClr val="5B7CFA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92B93F-216E-4C7B-AC94-F2A8AAB4C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5621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1">
                <a:solidFill>
                  <a:srgbClr val="27345C"/>
                </a:solidFill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27345C"/>
                </a:solidFill>
              </a:defRPr>
            </a:pPr>
            <a:r>
              <a:rPr sz="1575" b="1">
                <a:solidFill>
                  <a:srgbClr val="27345C"/>
                </a:solidFill>
              </a:rPr>
              <a:t>Nexent 负责协作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2EE5E5-3D7A-4977-A4E4-3207564F5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05000"/>
            <a:ext cx="533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0">
                <a:solidFill>
                  <a:srgbClr val="64748B"/>
                </a:solidFill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把文档分析、检索抽取、校验修复、故障树生成和专家审核编排成一条可回退的任务流。</a:t>
            </a:r>
          </a:p>
        </p:txBody>
      </p: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7846C8-2587-4D1B-AAEB-9B695C2482F0}"/>
              </a:ext>
            </a:extLst>
          </p:cNvPr>
          <p:cNvCxnSpPr/>
          <p:nvPr/>
        </p:nvCxnSpPr>
        <p:spPr>
          <a:xfrm xmlns:a="http://schemas.openxmlformats.org/drawingml/2006/main">
            <a:off x="828675" y="2133600"/>
            <a:ext cx="95" cy="3619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D6DDE8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89E5F9-3259-44BB-B251-3A78EDC6C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4381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F5F3"/>
          </a:solidFill>
          <a:ln xmlns:a="http://schemas.openxmlformats.org/drawingml/2006/main" w="11430">
            <a:solidFill>
              <a:srgbClr val="1E9A9A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ctr">
              <a:defRPr sz="1650" b="1">
                <a:solidFill>
                  <a:srgbClr val="1E9A9A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E9A9A"/>
                </a:solidFill>
              </a:defRPr>
            </a:pPr>
            <a:r>
              <a:rPr sz="1650" b="1">
                <a:solidFill>
                  <a:srgbClr val="1E9A9A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6F526E-9849-4CF3-948D-470D9067B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5908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1">
                <a:solidFill>
                  <a:srgbClr val="27345C"/>
                </a:solidFill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27345C"/>
                </a:solidFill>
              </a:defRPr>
            </a:pPr>
            <a:r>
              <a:rPr sz="1575" b="1">
                <a:solidFill>
                  <a:srgbClr val="27345C"/>
                </a:solidFill>
              </a:rPr>
              <a:t>LightRAG 负责知识处理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F3E15C-9BCE-42D5-96FE-8D123D2D5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33700"/>
            <a:ext cx="533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0">
                <a:solidFill>
                  <a:srgbClr val="64748B"/>
                </a:solidFill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复用现有文档解析、混合检索、知识图谱、故障树投影和规则校验能力。</a:t>
            </a:r>
          </a:p>
        </p:txBody>
      </p: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CE9C3A-509F-4CFA-976A-9443C3D98282}"/>
              </a:ext>
            </a:extLst>
          </p:cNvPr>
          <p:cNvCxnSpPr/>
          <p:nvPr/>
        </p:nvCxnSpPr>
        <p:spPr>
          <a:xfrm xmlns:a="http://schemas.openxmlformats.org/drawingml/2006/main">
            <a:off x="828675" y="3162300"/>
            <a:ext cx="95" cy="3619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D6DDE8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82E3DC-5149-4843-9097-AD0BCA454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4381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D7"/>
          </a:solidFill>
          <a:ln xmlns:a="http://schemas.openxmlformats.org/drawingml/2006/main" w="11430">
            <a:solidFill>
              <a:srgbClr val="C47A22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ctr">
              <a:defRPr sz="1650" b="1">
                <a:solidFill>
                  <a:srgbClr val="C47A22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C47A22"/>
                </a:solidFill>
              </a:defRPr>
            </a:pPr>
            <a:r>
              <a:rPr sz="1650" b="1">
                <a:solidFill>
                  <a:srgbClr val="C47A22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FEE1BE-DA09-4B8C-8A41-663950017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195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1">
                <a:solidFill>
                  <a:srgbClr val="27345C"/>
                </a:solidFill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27345C"/>
                </a:solidFill>
              </a:defRPr>
            </a:pPr>
            <a:r>
              <a:rPr sz="1575" b="1">
                <a:solidFill>
                  <a:srgbClr val="27345C"/>
                </a:solidFill>
              </a:rPr>
              <a:t>数据层负责沉淀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7F91D3-9806-4847-B9D8-B314CB2B1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62400"/>
            <a:ext cx="533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0">
                <a:solidFill>
                  <a:srgbClr val="64748B"/>
                </a:solidFill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统一保存原文证据、事件关系、故障树草稿、审核记录和评测样本，支持追溯与迭代。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CCB1E3-FBF2-4D02-BF9C-EA14C75F5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4478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75" b="1">
                <a:solidFill>
                  <a:srgbClr val="27345C"/>
                </a:solidFill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27345C"/>
                </a:solidFill>
              </a:defRPr>
            </a:pPr>
            <a:r>
              <a:rPr sz="975" b="1">
                <a:solidFill>
                  <a:srgbClr val="27345C"/>
                </a:solidFill>
              </a:rPr>
              <a:t>任务闭环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97F5FD-6A33-4261-8D94-BA0AAB54F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733550"/>
            <a:ext cx="3905250" cy="2724150"/>
          </a:xfrm>
          <a:prstGeom xmlns:a="http://schemas.openxmlformats.org/drawingml/2006/main" prst="roundRect">
            <a:avLst>
              <a:gd name="adj" fmla="val 6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DD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8793CA-B129-43F4-B789-7015D82AD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33600"/>
            <a:ext cx="1009650" cy="628650"/>
          </a:xfrm>
          <a:prstGeom xmlns:a="http://schemas.openxmlformats.org/drawingml/2006/main" prst="roundRect">
            <a:avLst>
              <a:gd name="adj" fmla="val 21212"/>
            </a:avLst>
          </a:prstGeom>
          <a:solidFill xmlns:a="http://schemas.openxmlformats.org/drawingml/2006/main">
            <a:srgbClr val="E8EDFF"/>
          </a:solidFill>
          <a:ln xmlns:a="http://schemas.openxmlformats.org/drawingml/2006/main" w="11430">
            <a:solidFill>
              <a:srgbClr val="5B7CFA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ctr">
              <a:defRPr sz="1125" b="1">
                <a:solidFill>
                  <a:srgbClr val="5B7CFA"/>
                </a:solidFill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5B7CFA"/>
                </a:solidFill>
              </a:defRPr>
            </a:pPr>
            <a:r>
              <a:rPr sz="1125" b="1">
                <a:solidFill>
                  <a:srgbClr val="5B7CFA"/>
                </a:solidFill>
              </a:rPr>
              <a:t>输入</a:t>
            </a:r>
          </a:p>
          <a:p xmlns:a="http://schemas.openxmlformats.org/drawingml/2006/main">
            <a:pPr algn="ctr">
              <a:defRPr sz="1125" b="1">
                <a:solidFill>
                  <a:srgbClr val="5B7CFA"/>
                </a:solidFill>
              </a:defRPr>
            </a:pPr>
            <a:r>
              <a:rPr sz="1125" b="1">
                <a:solidFill>
                  <a:srgbClr val="5B7CFA"/>
                </a:solidFill>
              </a:rPr>
              <a:t>文档</a:t>
            </a:r>
          </a:p>
          <a:p xmlns:a="http://schemas.openxmlformats.org/drawingml/2006/main">
            <a:pPr algn="ctr">
              <a:defRPr sz="1125" b="1">
                <a:solidFill>
                  <a:srgbClr val="5B7CFA"/>
                </a:solidFill>
              </a:defRPr>
            </a:pPr>
            <a:r>
              <a:rPr sz="1125" b="1">
                <a:solidFill>
                  <a:srgbClr val="5B7CFA"/>
                </a:solidFill>
              </a:rPr>
              <a:t>顶事件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3085A2-A6FC-4237-AF2F-6BF5300F8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133600"/>
            <a:ext cx="1009650" cy="628650"/>
          </a:xfrm>
          <a:prstGeom xmlns:a="http://schemas.openxmlformats.org/drawingml/2006/main" prst="roundRect">
            <a:avLst>
              <a:gd name="adj" fmla="val 21212"/>
            </a:avLst>
          </a:prstGeom>
          <a:solidFill xmlns:a="http://schemas.openxmlformats.org/drawingml/2006/main">
            <a:srgbClr val="E1F5F3"/>
          </a:solidFill>
          <a:ln xmlns:a="http://schemas.openxmlformats.org/drawingml/2006/main" w="11430">
            <a:solidFill>
              <a:srgbClr val="1E9A9A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ctr">
              <a:defRPr sz="1125" b="1">
                <a:solidFill>
                  <a:srgbClr val="1E9A9A"/>
                </a:solidFill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1E9A9A"/>
                </a:solidFill>
              </a:defRPr>
            </a:pPr>
            <a:r>
              <a:rPr sz="1125" b="1">
                <a:solidFill>
                  <a:srgbClr val="1E9A9A"/>
                </a:solidFill>
              </a:rPr>
              <a:t>检索</a:t>
            </a:r>
          </a:p>
          <a:p xmlns:a="http://schemas.openxmlformats.org/drawingml/2006/main">
            <a:pPr algn="ctr">
              <a:defRPr sz="1125" b="1">
                <a:solidFill>
                  <a:srgbClr val="1E9A9A"/>
                </a:solidFill>
              </a:defRPr>
            </a:pPr>
            <a:r>
              <a:rPr sz="1125" b="1">
                <a:solidFill>
                  <a:srgbClr val="1E9A9A"/>
                </a:solidFill>
              </a:rPr>
              <a:t>证据</a:t>
            </a:r>
          </a:p>
          <a:p xmlns:a="http://schemas.openxmlformats.org/drawingml/2006/main">
            <a:pPr algn="ctr">
              <a:defRPr sz="1125" b="1">
                <a:solidFill>
                  <a:srgbClr val="1E9A9A"/>
                </a:solidFill>
              </a:defRPr>
            </a:pPr>
            <a:r>
              <a:rPr sz="1125" b="1">
                <a:solidFill>
                  <a:srgbClr val="1E9A9A"/>
                </a:solidFill>
              </a:rPr>
              <a:t>召回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8AF531-D043-431F-9BE3-B5E77642B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314700"/>
            <a:ext cx="1009650" cy="628650"/>
          </a:xfrm>
          <a:prstGeom xmlns:a="http://schemas.openxmlformats.org/drawingml/2006/main" prst="roundRect">
            <a:avLst>
              <a:gd name="adj" fmla="val 21212"/>
            </a:avLst>
          </a:prstGeom>
          <a:solidFill xmlns:a="http://schemas.openxmlformats.org/drawingml/2006/main">
            <a:srgbClr val="F0EAFF"/>
          </a:solidFill>
          <a:ln xmlns:a="http://schemas.openxmlformats.org/drawingml/2006/main" w="11430">
            <a:solidFill>
              <a:srgbClr val="7E64C5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ctr">
              <a:defRPr sz="1125" b="1">
                <a:solidFill>
                  <a:srgbClr val="7E64C5"/>
                </a:solidFill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7E64C5"/>
                </a:solidFill>
              </a:defRPr>
            </a:pPr>
            <a:r>
              <a:rPr sz="1125" b="1">
                <a:solidFill>
                  <a:srgbClr val="7E64C5"/>
                </a:solidFill>
              </a:rPr>
              <a:t>抽取</a:t>
            </a:r>
          </a:p>
          <a:p xmlns:a="http://schemas.openxmlformats.org/drawingml/2006/main">
            <a:pPr algn="ctr">
              <a:defRPr sz="1125" b="1">
                <a:solidFill>
                  <a:srgbClr val="7E64C5"/>
                </a:solidFill>
              </a:defRPr>
            </a:pPr>
            <a:r>
              <a:rPr sz="1125" b="1">
                <a:solidFill>
                  <a:srgbClr val="7E64C5"/>
                </a:solidFill>
              </a:rPr>
              <a:t>事件</a:t>
            </a:r>
          </a:p>
          <a:p xmlns:a="http://schemas.openxmlformats.org/drawingml/2006/main">
            <a:pPr algn="ctr">
              <a:defRPr sz="1125" b="1">
                <a:solidFill>
                  <a:srgbClr val="7E64C5"/>
                </a:solidFill>
              </a:defRPr>
            </a:pPr>
            <a:r>
              <a:rPr sz="1125" b="1">
                <a:solidFill>
                  <a:srgbClr val="7E64C5"/>
                </a:solidFill>
              </a:rPr>
              <a:t>关系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A80502-A7B1-468C-ABBC-F188456C7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314700"/>
            <a:ext cx="1009650" cy="628650"/>
          </a:xfrm>
          <a:prstGeom xmlns:a="http://schemas.openxmlformats.org/drawingml/2006/main" prst="roundRect">
            <a:avLst>
              <a:gd name="adj" fmla="val 21212"/>
            </a:avLst>
          </a:prstGeom>
          <a:solidFill xmlns:a="http://schemas.openxmlformats.org/drawingml/2006/main">
            <a:srgbClr val="FFF0D7"/>
          </a:solidFill>
          <a:ln xmlns:a="http://schemas.openxmlformats.org/drawingml/2006/main" w="11430">
            <a:solidFill>
              <a:srgbClr val="C47A22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ctr">
              <a:defRPr sz="1125" b="1">
                <a:solidFill>
                  <a:srgbClr val="C47A22"/>
                </a:solidFill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C47A22"/>
                </a:solidFill>
              </a:defRPr>
            </a:pPr>
            <a:r>
              <a:rPr sz="1125" b="1">
                <a:solidFill>
                  <a:srgbClr val="C47A22"/>
                </a:solidFill>
              </a:rPr>
              <a:t>校验</a:t>
            </a:r>
          </a:p>
          <a:p xmlns:a="http://schemas.openxmlformats.org/drawingml/2006/main">
            <a:pPr algn="ctr">
              <a:defRPr sz="1125" b="1">
                <a:solidFill>
                  <a:srgbClr val="C47A22"/>
                </a:solidFill>
              </a:defRPr>
            </a:pPr>
            <a:r>
              <a:rPr sz="1125" b="1">
                <a:solidFill>
                  <a:srgbClr val="C47A22"/>
                </a:solidFill>
              </a:rPr>
              <a:t>结构</a:t>
            </a:r>
          </a:p>
          <a:p xmlns:a="http://schemas.openxmlformats.org/drawingml/2006/main">
            <a:pPr algn="ctr">
              <a:defRPr sz="1125" b="1">
                <a:solidFill>
                  <a:srgbClr val="C47A22"/>
                </a:solidFill>
              </a:defRPr>
            </a:pPr>
            <a:r>
              <a:rPr sz="1125" b="1">
                <a:solidFill>
                  <a:srgbClr val="C47A22"/>
                </a:solidFill>
              </a:rPr>
              <a:t>规则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F468F54-0BAD-43DF-BA42-95FD4AC60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78130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00" b="1">
                <a:solidFill>
                  <a:srgbClr val="27345C"/>
                </a:solidFill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27345C"/>
                </a:solidFill>
              </a:defRPr>
            </a:pPr>
            <a:r>
              <a:rPr sz="1200" b="1">
                <a:solidFill>
                  <a:srgbClr val="27345C"/>
                </a:solidFill>
              </a:rPr>
              <a:t>生成故障树草稿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CA9D780-2FEC-4F95-BD59-DAB553C91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15290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975" b="0">
                <a:solidFill>
                  <a:srgbClr val="2F8F5B"/>
                </a:solidFill>
              </a:defRPr>
            </a:defPPr>
          </a:lstStyle>
          <a:p xmlns:a="http://schemas.openxmlformats.org/drawingml/2006/main">
            <a:pPr algn="ctr">
              <a:defRPr sz="975" b="0">
                <a:solidFill>
                  <a:srgbClr val="2F8F5B"/>
                </a:solidFill>
              </a:defRPr>
            </a:pPr>
            <a:r>
              <a:rPr sz="975" b="0">
                <a:solidFill>
                  <a:srgbClr val="2F8F5B"/>
                </a:solidFill>
              </a:rPr>
              <a:t>专家审核 → 版本入库 → 评测迭代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421220F-73FB-41A5-ACDD-314845B54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10991850" cy="628650"/>
          </a:xfrm>
          <a:prstGeom xmlns:a="http://schemas.openxmlformats.org/drawingml/2006/main" prst="roundRect">
            <a:avLst>
              <a:gd name="adj" fmla="val 21212"/>
            </a:avLst>
          </a:prstGeom>
          <a:solidFill xmlns:a="http://schemas.openxmlformats.org/drawingml/2006/main">
            <a:srgbClr val="27345C"/>
          </a:solidFill>
          <a:ln xmlns:a="http://schemas.openxmlformats.org/drawingml/2006/main" w="11430">
            <a:solidFill>
              <a:srgbClr val="27345C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重构原则：保留 LightRAG 内核，Nexent 增强协作与治理能力</a:t>
            </a:r>
          </a:p>
        </p:txBody>
      </p:sp>
    </p:spTree>
    <p:extLst>
      <p:ext uri="{BB962C8B-B14F-4D97-AF65-F5344CB8AC3E}">
        <p14:creationId xmlns:p14="http://schemas.microsoft.com/office/powerpoint/2010/main" val="617657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2026-10-12T15:14:03.9020000Z</dcterms:created>
  <dcterms:modified xsi:type="dcterms:W3CDTF">2026-10-12T15:14:03.9020000Z</dcterms:modified>
</coreProperties>
</file>